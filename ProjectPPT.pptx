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6" r:id="rId3"/>
    <p:sldId id="266" r:id="rId4"/>
    <p:sldId id="258" r:id="rId5"/>
    <p:sldId id="267" r:id="rId6"/>
    <p:sldId id="268" r:id="rId7"/>
    <p:sldId id="261" r:id="rId8"/>
    <p:sldId id="269" r:id="rId9"/>
    <p:sldId id="260" r:id="rId10"/>
    <p:sldId id="274" r:id="rId11"/>
    <p:sldId id="272" r:id="rId12"/>
    <p:sldId id="270" r:id="rId13"/>
    <p:sldId id="273" r:id="rId14"/>
    <p:sldId id="265" r:id="rId15"/>
  </p:sldIdLst>
  <p:sldSz cx="9144000" cy="5143500" type="screen16x9"/>
  <p:notesSz cx="6858000" cy="9144000"/>
  <p:embeddedFontLst>
    <p:embeddedFont>
      <p:font typeface="Archivo Narrow" panose="020B0604020202020204" charset="0"/>
      <p:regular r:id="rId17"/>
      <p:bold r:id="rId18"/>
      <p:italic r:id="rId19"/>
      <p:boldItalic r:id="rId20"/>
    </p:embeddedFon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IBM Plex Sans Condensed" panose="020B05060502030002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8" y="50475"/>
            <a:ext cx="9143982" cy="106520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flipH="1">
            <a:off x="18" y="0"/>
            <a:ext cx="9143982" cy="106520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6146" y="240330"/>
            <a:ext cx="1847853" cy="5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-11025" y="4439925"/>
            <a:ext cx="9155100" cy="7035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25" y="4408524"/>
            <a:ext cx="3572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 a dynamic environment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709075" y="4439925"/>
            <a:ext cx="2030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6067875" y="4401406"/>
            <a:ext cx="29844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343200" y="483591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945800" y="17979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414500" y="646875"/>
            <a:ext cx="84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2461850" y="320400"/>
            <a:ext cx="4469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99999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414375" y="616825"/>
            <a:ext cx="83631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414500" y="1124125"/>
            <a:ext cx="83631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343200" y="483591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4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945800" y="17979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461850" y="320400"/>
            <a:ext cx="4469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99999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Thirtieth Meeting of the Planning and Monitoring Board</a:t>
            </a:r>
            <a:endParaRPr sz="1100" b="0" i="0" u="none" strike="noStrike" cap="none">
              <a:solidFill>
                <a:srgbClr val="99999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195900" y="4523325"/>
            <a:ext cx="3905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lang="en-GB" sz="1300" b="0" i="0" u="none" strike="noStrike" cap="none">
                <a:solidFill>
                  <a:srgbClr val="666666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24 February 2023, 2.30 PM, Board Room, Central Block</a:t>
            </a:r>
            <a:endParaRPr sz="13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5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6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7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8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9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0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4"/>
          <p:cNvSpPr/>
          <p:nvPr/>
        </p:nvSpPr>
        <p:spPr>
          <a:xfrm flipH="1">
            <a:off x="18" y="50475"/>
            <a:ext cx="9143982" cy="106520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 flipH="1">
            <a:off x="18" y="0"/>
            <a:ext cx="9143982" cy="106520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-11025" y="4439925"/>
            <a:ext cx="9155100" cy="7035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25" y="4439925"/>
            <a:ext cx="3572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University is a nurturing ground for an individual’s holistic development to make effective contribution to the society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 a dynamic environment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709075" y="4439925"/>
            <a:ext cx="2030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067875" y="4439925"/>
            <a:ext cx="29844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Values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|  Social Responsibility | Pursuit of Excellence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3326" y="231279"/>
            <a:ext cx="2073505" cy="7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5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body" idx="1"/>
          </p:nvPr>
        </p:nvSpPr>
        <p:spPr>
          <a:xfrm>
            <a:off x="311700" y="1170125"/>
            <a:ext cx="8520600" cy="3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16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050800" y="171777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0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2369382" y="343501"/>
            <a:ext cx="4669500" cy="1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000" b="1" i="0" u="none" strike="noStrike" cap="non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                    Thirtieth Meeting of the Planning and Monitoring Board </a:t>
            </a:r>
            <a:endParaRPr sz="1000" b="1" i="0" u="none" strike="noStrike" cap="none">
              <a:solidFill>
                <a:srgbClr val="99999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4206375" y="4603875"/>
            <a:ext cx="4669500" cy="1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000" b="1" i="0" u="none" strike="noStrike" cap="non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                        </a:t>
            </a:r>
            <a:r>
              <a:rPr lang="en-GB" sz="1000" b="1" i="0" u="none" strike="noStrike" cap="none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24 February 2023, 2.30 PM, Board Room, Central Block </a:t>
            </a:r>
            <a:endParaRPr sz="1000" b="1" i="0" u="none" strike="noStrike" cap="none">
              <a:solidFill>
                <a:srgbClr val="99999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7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18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9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0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21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22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23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24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093925"/>
            <a:ext cx="8520600" cy="3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4.15800" TargetMode="External"/><Relationship Id="rId2" Type="http://schemas.openxmlformats.org/officeDocument/2006/relationships/hyperlink" Target="https://arxiv.org/abs/2412.2013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pers.ssrn.com/sol3/papers.cfm?abstract_id=5053905" TargetMode="External"/><Relationship Id="rId4" Type="http://schemas.openxmlformats.org/officeDocument/2006/relationships/hyperlink" Target="https://papers.ssrn.com/sol3/papers.cfm?abstract_id=485003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>
            <a:spLocks noGrp="1"/>
          </p:cNvSpPr>
          <p:nvPr>
            <p:ph type="ctrTitle"/>
          </p:nvPr>
        </p:nvSpPr>
        <p:spPr>
          <a:xfrm>
            <a:off x="311700" y="1127675"/>
            <a:ext cx="8520600" cy="117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FINMENTOR AI - MULTIAGENT FINANCIAL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ADVISORY PLATFORM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1"/>
          </p:nvPr>
        </p:nvSpPr>
        <p:spPr>
          <a:xfrm>
            <a:off x="6479381" y="2944734"/>
            <a:ext cx="23529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Roshan Varghese, 2448046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Varun Dsouza, 2448059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F511-4E82-7294-AB5E-1D04A32EDFC0}"/>
              </a:ext>
            </a:extLst>
          </p:cNvPr>
          <p:cNvSpPr txBox="1"/>
          <p:nvPr/>
        </p:nvSpPr>
        <p:spPr>
          <a:xfrm>
            <a:off x="311700" y="2944735"/>
            <a:ext cx="3205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Saleema J.S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 &amp;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FA87-8B81-C0DA-6007-A277ED6A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992-B5B3-80AE-E662-3F4D1234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Multiagent Financial Advisory Platform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6544F-5A8B-5E3F-B2C1-CF62E5A1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080" y="1124125"/>
            <a:ext cx="7886701" cy="3389700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times there are different asset classes to appreciate capital of an individual. Capital market is one such proven way.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NIFTY-50 which is the benchmark index of top 50 companies in India has generated a return of 10% CAGR. Where as many small cap companies have generated a hefty return of 15% to 18% in the same time.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FinMentor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MVP is a standalone web application designed to provide basic financial education and advisory services to Indian retain investors.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is designed to build sophisticated portfolio based on an investors risk perception.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building portfolio, the application is capable of educating new investors and giving summary of annual reports.</a:t>
            </a:r>
          </a:p>
        </p:txBody>
      </p:sp>
    </p:spTree>
    <p:extLst>
      <p:ext uri="{BB962C8B-B14F-4D97-AF65-F5344CB8AC3E}">
        <p14:creationId xmlns:p14="http://schemas.microsoft.com/office/powerpoint/2010/main" val="110905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0949-5BD7-567C-5E28-A71197CE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73466"/>
            <a:ext cx="8363100" cy="5073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A96E9-9CAA-200C-999F-47A8F0B49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750" y="980766"/>
            <a:ext cx="8363100" cy="3389700"/>
          </a:xfrm>
        </p:spPr>
        <p:txBody>
          <a:bodyPr/>
          <a:lstStyle/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LITERACY GAP IN INDIA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27% of Indian adults are financially literate (NCFE Survey 2023)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investors lack personalized guidance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financial advisors are expensive (₹5000-10000/consultation)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investment apps don't educate users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 - 5500+ stocks on BSE, where to start?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investment decisions due to lack of knowledge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wealth creation opportunities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investing (panic selling, FOMO buying)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understanding of risk-return tradeoffs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Young professionals (20-45) entering capital markets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31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831E-AE78-6F45-A96A-39916986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FC6E-FEB3-C941-88C8-7CC9AC22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63952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Solutions Fall Short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05D10-7CDF-C1F9-2A56-5D3AB59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116" y="971252"/>
            <a:ext cx="3738372" cy="3200995"/>
          </a:xfrm>
        </p:spPr>
        <p:txBody>
          <a:bodyPr/>
          <a:lstStyle/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Robo-Advisors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Zerodha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Coin,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portfolio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educational component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conversational interface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Chatbots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Fina):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basic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FAQs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portfolio building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context awareness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48220C-A9D0-7C2B-F7F8-E226D6AA9E2D}"/>
              </a:ext>
            </a:extLst>
          </p:cNvPr>
          <p:cNvSpPr txBox="1">
            <a:spLocks/>
          </p:cNvSpPr>
          <p:nvPr/>
        </p:nvSpPr>
        <p:spPr>
          <a:xfrm>
            <a:off x="4285488" y="971252"/>
            <a:ext cx="4120896" cy="320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Font typeface="Archivo Narrow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Financial Advisors: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(₹5000+/session)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24/7</a:t>
            </a:r>
          </a:p>
          <a:p>
            <a:pPr marL="88900" indent="0">
              <a:buFont typeface="Archivo Narrow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Font typeface="Archivo Narrow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31C8A-8144-31E8-1DC2-63616086C30D}"/>
              </a:ext>
            </a:extLst>
          </p:cNvPr>
          <p:cNvSpPr txBox="1"/>
          <p:nvPr/>
        </p:nvSpPr>
        <p:spPr>
          <a:xfrm>
            <a:off x="929640" y="3803142"/>
            <a:ext cx="728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GAP: No solution combines education + advisory + personalization + 24/7 availability + affordable cost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0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5BDA-5543-F1B6-8E1D-E6B283A3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7832-D91B-747F-EEF4-E373B4D8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87754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D5BFD-8A35-64C1-D1AA-6885A7D9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320" y="1080778"/>
            <a:ext cx="7831360" cy="3200995"/>
          </a:xfrm>
        </p:spPr>
        <p:txBody>
          <a:bodyPr/>
          <a:lstStyle/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an AI-powered financial mentor that democratizes financial advisory through multi-agent intelligence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EDUCATE: Provide interactive financial literacy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"What is P/E ratio?", "How does SIP work?"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explanations (beginner → advanced)</a:t>
            </a: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INFORM: Deliver real-time, personalized market insights, Live stock prices, fundamentals and explain market movements in simple language.</a:t>
            </a: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ADVISE: Generate data-driven portfolio recommendations based on user's risk tolerance, Sector-diversified, equal-weight strategy.</a:t>
            </a: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INNOVATE: Leverage multi-agent AI architecture, utilize specialized agents for different tasks that are coordinated through intelligent routing.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9823-58F7-E718-DE96-E8055F971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Finmentor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2490-EE9B-7385-2937-5B6A39221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746" y="1302719"/>
            <a:ext cx="7422357" cy="3389700"/>
          </a:xfrm>
        </p:spPr>
        <p:txBody>
          <a:bodyPr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education: Any individual new to the stock market can solve any of their doubts with the help of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Finmentor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building: Curated portfolios are built for new investors based on their risk appetite.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analysis: Deep understanding of annual reports of 5500 companies listed on the Bombay Stock Exchange (BSE).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Forum: To build an ecosystem for new investors by providing a platform to interact with other investors for free. 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platform that will give new investors a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to share their views and ideas. (Planned)</a:t>
            </a:r>
          </a:p>
        </p:txBody>
      </p:sp>
    </p:spTree>
    <p:extLst>
      <p:ext uri="{BB962C8B-B14F-4D97-AF65-F5344CB8AC3E}">
        <p14:creationId xmlns:p14="http://schemas.microsoft.com/office/powerpoint/2010/main" val="204119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F135-4A07-7A26-C59E-434B8233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5ED1-DAD2-C523-3AF7-E1F0C4B1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378526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Multi-Agent Systems in Finance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48CB0-3898-5BC2-18D3-CE3D6606A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457" y="906661"/>
            <a:ext cx="4228930" cy="3200995"/>
          </a:xfrm>
        </p:spPr>
        <p:txBody>
          <a:bodyPr/>
          <a:lstStyle/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Multi-Agent Trading Systems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Reference: Xiao et al. (2024) -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TradingAgents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Multi-agents 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LLM financial trading framework"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outperform single-agent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collaboration improves decision accuracy by 23%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agents can process unstructured financial data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https://arxiv.org/abs/2412.20138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RAG for Financial QA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Reference: Choi et al. (2025) -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Financial dataset for 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question answering and evaluating RAG"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improves factual accuracy in financial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methods reduce hallucinations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knowledge bases essential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https://arxiv.org/abs/2504.15800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1DA403-AF1D-DCE1-2C75-248166511CC3}"/>
              </a:ext>
            </a:extLst>
          </p:cNvPr>
          <p:cNvSpPr txBox="1">
            <a:spLocks/>
          </p:cNvSpPr>
          <p:nvPr/>
        </p:nvSpPr>
        <p:spPr>
          <a:xfrm>
            <a:off x="4456387" y="885826"/>
            <a:ext cx="4460156" cy="320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Portfolio Recommendations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Reference: Lopez-Lira, A., Scheer, M.,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Schwenkler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(2024) - "Using Large Language Models for Financial Advice"</a:t>
            </a:r>
          </a:p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generate implementable portfolio recommendations with specific securities and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generate portfolios more sensitive to investor characteristics than fine-tuned models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https://papers.ssrn.com/sol3/papers.cfm?abstract_id=4850039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GenAI and Retail Investor Behavior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Reference: Cao, S., Jiang, W., &amp; Wang, J. (2024) - "Generative AI and Investor Processing of Financial Information"</a:t>
            </a: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50% of retail investors already use GenAI for financial information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enhances ability to process complex financial information quickly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sophisticated investors leverage GenAI for complex tasks more effectively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https://papers.ssrn.com/sol3/papers.cfm?abstract_id=5053905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86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13B1-CCAD-9BF5-A859-D37BD7F0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1EAB-51AB-35B9-BE0E-5D9B596F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945" y="1307482"/>
            <a:ext cx="3205759" cy="272854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Layer: React web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Fast API with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 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 - Free, real-time Indian market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Angel One - 538 financial terms scraped for education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Vantage - Rate limits too restrictive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 Direct API - Requires commercial license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233D0-B0C6-EDDA-B584-F8B55B52E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3" y="487680"/>
            <a:ext cx="5897878" cy="425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3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3266-B12A-42E7-22A6-A94A8596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64DF-08FE-AD36-0597-EAA52C09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45375"/>
            <a:ext cx="8363100" cy="5073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8185A-C1F4-7C0F-0AD6-ECDF50BD4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113" y="952675"/>
            <a:ext cx="3931562" cy="2728547"/>
          </a:xfrm>
        </p:spPr>
        <p:txBody>
          <a:bodyPr/>
          <a:lstStyle/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registration with email/password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session management (24-hour 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encryption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storage (risk tolerance, goals)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CONVERSATIONAL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query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history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 across multiple chats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538+ financial terms and definitions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explanations (beginner →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Covers: Stocks, Mutual Funds, Trading, Tax,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Q&amp;A on financial concepts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04B8F6B-4E7E-E84F-4883-1ADEAE71D03B}"/>
              </a:ext>
            </a:extLst>
          </p:cNvPr>
          <p:cNvSpPr txBox="1">
            <a:spLocks/>
          </p:cNvSpPr>
          <p:nvPr/>
        </p:nvSpPr>
        <p:spPr>
          <a:xfrm>
            <a:off x="4257675" y="952674"/>
            <a:ext cx="3931562" cy="272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stock prices (Yahoo Finance)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metrics (P/E ratio, Market Cap)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52-week high/low, Trading 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explanations of market movements</a:t>
            </a:r>
          </a:p>
          <a:p>
            <a:pPr marL="8890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RECOMMENDATION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portfolio generation (Low/Medium/High)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Equal-weight allocation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diversification (max 2 stocks/sector)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5-8 stock recommendations with rationale</a:t>
            </a:r>
          </a:p>
          <a:p>
            <a:pPr marL="8890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HISTORY &amp;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all user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past conversations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context within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user's learning progress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15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65D2-EBAB-D5E5-B82D-8DAFCAFC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EEBE-DA09-89DD-224A-7030E6066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30" y="372985"/>
            <a:ext cx="8363100" cy="5073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Design - The 4 Core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759FD-7B7C-99CD-F349-D31C3305B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630" y="976297"/>
            <a:ext cx="4380370" cy="1692227"/>
          </a:xfrm>
        </p:spPr>
        <p:txBody>
          <a:bodyPr/>
          <a:lstStyle/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UNDERSTANDING AGENT (Router)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Traffic controller of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Classify user intent → route to specialist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Prompt-based classification with Gemini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"What is P/E ratio?" → Educational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"Show me RELIANCE price" → Market Data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"Build me a portfolio" → Portfolio Builder Agent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8156E4-952C-A7AC-FEE9-8A66F1E07486}"/>
              </a:ext>
            </a:extLst>
          </p:cNvPr>
          <p:cNvSpPr txBox="1">
            <a:spLocks/>
          </p:cNvSpPr>
          <p:nvPr/>
        </p:nvSpPr>
        <p:spPr>
          <a:xfrm>
            <a:off x="4572000" y="976296"/>
            <a:ext cx="4355720" cy="169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CONTENT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Financial literacy teacher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Explain concepts in simple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Base: 538 terms from Angel One + Gemini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Stocks, mutual funds, SIP, trading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explanations (beginner →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follow-up questions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B235DF6-8A16-0F9B-7A43-051B0C2BF1B8}"/>
              </a:ext>
            </a:extLst>
          </p:cNvPr>
          <p:cNvSpPr txBox="1">
            <a:spLocks/>
          </p:cNvSpPr>
          <p:nvPr/>
        </p:nvSpPr>
        <p:spPr>
          <a:xfrm>
            <a:off x="191630" y="2668524"/>
            <a:ext cx="4380370" cy="169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Real-time market information provider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Fetch &amp; explain stock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Yahoo Finance API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library)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price, P/E ratio, Market cap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52-week high/low, 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interpretation for beginners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E2EFA9F-215F-DE57-C49E-6FFBA843E292}"/>
              </a:ext>
            </a:extLst>
          </p:cNvPr>
          <p:cNvSpPr txBox="1">
            <a:spLocks/>
          </p:cNvSpPr>
          <p:nvPr/>
        </p:nvSpPr>
        <p:spPr>
          <a:xfrm>
            <a:off x="4572000" y="2668524"/>
            <a:ext cx="4355720" cy="169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BUILDER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Investment advisor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Generate diversified portfolio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Equal-weight allocation (5-8 stocks)   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Risk tolerance (Low/Medium/High)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Select from 30-50 quality stocks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Sector-diversified, equal-weight portfolio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Constraint: Max 2 stocks per sector</a:t>
            </a:r>
          </a:p>
        </p:txBody>
      </p:sp>
    </p:spTree>
    <p:extLst>
      <p:ext uri="{BB962C8B-B14F-4D97-AF65-F5344CB8AC3E}">
        <p14:creationId xmlns:p14="http://schemas.microsoft.com/office/powerpoint/2010/main" val="151022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4105-73CE-728C-0B14-F9F2364A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3B25-2DFA-C855-F138-2AF7573F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40344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A532C7-361E-40E3-0684-7DA5CAB60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76320"/>
              </p:ext>
            </p:extLst>
          </p:nvPr>
        </p:nvGraphicFramePr>
        <p:xfrm>
          <a:off x="4486656" y="487681"/>
          <a:ext cx="4657344" cy="4215475"/>
        </p:xfrm>
        <a:graphic>
          <a:graphicData uri="http://schemas.openxmlformats.org/drawingml/2006/table">
            <a:tbl>
              <a:tblPr/>
              <a:tblGrid>
                <a:gridCol w="1819935">
                  <a:extLst>
                    <a:ext uri="{9D8B030D-6E8A-4147-A177-3AD203B41FA5}">
                      <a16:colId xmlns:a16="http://schemas.microsoft.com/office/drawing/2014/main" val="2122708282"/>
                    </a:ext>
                  </a:extLst>
                </a:gridCol>
                <a:gridCol w="2837409">
                  <a:extLst>
                    <a:ext uri="{9D8B030D-6E8A-4147-A177-3AD203B41FA5}">
                      <a16:colId xmlns:a16="http://schemas.microsoft.com/office/drawing/2014/main" val="1078813766"/>
                    </a:ext>
                  </a:extLst>
                </a:gridCol>
              </a:tblGrid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Component/Framework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or Feature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4027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(Web)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+ Vite + Tailwind CSS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10727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(Python 3.9+)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940201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14+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77629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ORM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SQLAlchemy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601043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(PyJWT library)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53151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Gemini API (REST calls)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35910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311072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Data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yfinance Python library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83795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Heroku / Railway / Render (free tier)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910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+ GitHub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943842"/>
                  </a:ext>
                </a:extLst>
              </a:tr>
              <a:tr h="4565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DSPy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reasoning AI framework (introduced 2023)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542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996314-6C20-114D-797F-F84A39D72D04}"/>
              </a:ext>
            </a:extLst>
          </p:cNvPr>
          <p:cNvSpPr txBox="1"/>
          <p:nvPr/>
        </p:nvSpPr>
        <p:spPr>
          <a:xfrm>
            <a:off x="390450" y="994981"/>
            <a:ext cx="39377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 3.10+)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Async support, fast, auto-generates API docs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Components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(gemini-1.5-flash) - Free tier, Query classification, response generation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Agent orchestration framework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DSPY – Structured Reasoning AI Framework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 with salt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Authentication: JWT tokens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variables for API keys</a:t>
            </a:r>
          </a:p>
        </p:txBody>
      </p:sp>
    </p:spTree>
    <p:extLst>
      <p:ext uri="{BB962C8B-B14F-4D97-AF65-F5344CB8AC3E}">
        <p14:creationId xmlns:p14="http://schemas.microsoft.com/office/powerpoint/2010/main" val="730285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9BD8-5D12-D424-3A5A-E5BA61F2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39F7-8119-88BF-FFC2-249421B8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266297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Processing (EDA)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99FB0-0AD5-7736-AD73-52220D2EDDD6}"/>
              </a:ext>
            </a:extLst>
          </p:cNvPr>
          <p:cNvSpPr txBox="1"/>
          <p:nvPr/>
        </p:nvSpPr>
        <p:spPr>
          <a:xfrm>
            <a:off x="390450" y="994981"/>
            <a:ext cx="418155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Angel One Financial Glossary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Web scraping with Python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Terms: 538 financial terms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term, definition,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 100% complete (no missing values)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Duplicates: Removed during preprocessing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Topics Covered (Word Cloud Analysis)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Frequent: FINANCE, TRADING, TAXES, CREDIT, INSURANCE, STOCK, OPTION, FUTURE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forms our Educational Agent's knowledge base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847E7-E546-6771-1BF0-B14F2A93C115}"/>
              </a:ext>
            </a:extLst>
          </p:cNvPr>
          <p:cNvSpPr txBox="1"/>
          <p:nvPr/>
        </p:nvSpPr>
        <p:spPr>
          <a:xfrm>
            <a:off x="4572000" y="994981"/>
            <a:ext cx="437662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Term Length: 15 characters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Definition: 784 characters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95% definitions 700-900 chars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Banking &amp; Finance: 28%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Trading Instruments: 24%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&amp; Legal: 18%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Investment Products: 30%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4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003-55C9-D3F0-F34D-DC885003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78145"/>
            <a:ext cx="8520600" cy="5727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32713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1581</Words>
  <Application>Microsoft Office PowerPoint</Application>
  <PresentationFormat>On-screen Show (16:9)</PresentationFormat>
  <Paragraphs>234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Archivo Narrow</vt:lpstr>
      <vt:lpstr>IBM Plex Sans Condensed</vt:lpstr>
      <vt:lpstr>Times New Roman</vt:lpstr>
      <vt:lpstr>Bookman Old Style</vt:lpstr>
      <vt:lpstr>Arial</vt:lpstr>
      <vt:lpstr>Georgia</vt:lpstr>
      <vt:lpstr>Simple Light</vt:lpstr>
      <vt:lpstr>Simple Light</vt:lpstr>
      <vt:lpstr>FINMENTOR AI - MULTIAGENT FINANCIAL ADVISORY PLATFORM</vt:lpstr>
      <vt:lpstr>Multiagent Financial Advisory Platform</vt:lpstr>
      <vt:lpstr>Problem Statement </vt:lpstr>
      <vt:lpstr>Why Existing Solutions Fall Short</vt:lpstr>
      <vt:lpstr>Project Objectives</vt:lpstr>
      <vt:lpstr>What makes Finmentor Unique?</vt:lpstr>
      <vt:lpstr>Literature Review - Multi-Agent Systems in Finance</vt:lpstr>
      <vt:lpstr>System Architecture</vt:lpstr>
      <vt:lpstr>System Functionalities</vt:lpstr>
      <vt:lpstr>Multi-Agent Design - The 4 Core Agents</vt:lpstr>
      <vt:lpstr>Technology Stack</vt:lpstr>
      <vt:lpstr>Data Collection &amp; Processing (EDA)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Roshan Varghese</cp:lastModifiedBy>
  <cp:revision>9</cp:revision>
  <dcterms:modified xsi:type="dcterms:W3CDTF">2025-10-30T19:19:05Z</dcterms:modified>
</cp:coreProperties>
</file>