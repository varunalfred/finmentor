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8"/>
  </p:notesMasterIdLst>
  <p:sldIdLst>
    <p:sldId id="256" r:id="rId3"/>
    <p:sldId id="266" r:id="rId4"/>
    <p:sldId id="258" r:id="rId5"/>
    <p:sldId id="267" r:id="rId6"/>
    <p:sldId id="268" r:id="rId7"/>
    <p:sldId id="269" r:id="rId8"/>
    <p:sldId id="260" r:id="rId9"/>
    <p:sldId id="273" r:id="rId10"/>
    <p:sldId id="276" r:id="rId11"/>
    <p:sldId id="274" r:id="rId12"/>
    <p:sldId id="277" r:id="rId13"/>
    <p:sldId id="275" r:id="rId14"/>
    <p:sldId id="270" r:id="rId15"/>
    <p:sldId id="278" r:id="rId16"/>
    <p:sldId id="265" r:id="rId17"/>
  </p:sldIdLst>
  <p:sldSz cx="9144000" cy="5143500" type="screen16x9"/>
  <p:notesSz cx="6858000" cy="9144000"/>
  <p:embeddedFontLst>
    <p:embeddedFont>
      <p:font typeface="Archivo Narrow" panose="020B0604020202020204" charset="0"/>
      <p:regular r:id="rId19"/>
      <p:bold r:id="rId20"/>
      <p:italic r:id="rId21"/>
      <p:boldItalic r:id="rId22"/>
    </p:embeddedFont>
    <p:embeddedFont>
      <p:font typeface="Bookman Old Style" panose="02050604050505020204" pitchFamily="18" charset="0"/>
      <p:regular r:id="rId23"/>
      <p:bold r:id="rId24"/>
      <p:italic r:id="rId25"/>
      <p:boldItalic r:id="rId26"/>
    </p:embeddedFont>
    <p:embeddedFont>
      <p:font typeface="Georgia" panose="02040502050405020303" pitchFamily="18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2" d="100"/>
          <a:sy n="92" d="100"/>
        </p:scale>
        <p:origin x="1186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1415098"/>
            <a:ext cx="8520600" cy="13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18" y="50475"/>
            <a:ext cx="9143982" cy="106520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 flipH="1">
            <a:off x="18" y="0"/>
            <a:ext cx="9143982" cy="106520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36146" y="240330"/>
            <a:ext cx="1847853" cy="5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/>
          <p:nvPr/>
        </p:nvSpPr>
        <p:spPr>
          <a:xfrm>
            <a:off x="-11025" y="4439925"/>
            <a:ext cx="9155100" cy="7035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25" y="4408524"/>
            <a:ext cx="3572100" cy="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sz="12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</a:t>
            </a:r>
            <a:b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 a dynamic environment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709075" y="4439925"/>
            <a:ext cx="20307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sz="12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6067875" y="4401406"/>
            <a:ext cx="2984400" cy="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VALUES</a:t>
            </a:r>
            <a:endParaRPr sz="12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3343200" y="483591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3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945800" y="17979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414500" y="646875"/>
            <a:ext cx="848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2461850" y="320400"/>
            <a:ext cx="44694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999999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414375" y="616825"/>
            <a:ext cx="83631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414500" y="1124125"/>
            <a:ext cx="8363100" cy="3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3343200" y="483591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3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4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6945800" y="17979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3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2461850" y="320400"/>
            <a:ext cx="44694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0" u="none" strike="noStrike" cap="none">
                <a:solidFill>
                  <a:srgbClr val="99999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Thirtieth Meeting of the Planning and Monitoring Board</a:t>
            </a:r>
            <a:endParaRPr sz="1100" b="0" i="0" u="none" strike="noStrike" cap="none">
              <a:solidFill>
                <a:srgbClr val="999999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5195900" y="4523325"/>
            <a:ext cx="39054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lang="en-GB" sz="1300" b="0" i="0" u="none" strike="noStrike" cap="none">
                <a:solidFill>
                  <a:srgbClr val="666666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24 February 2023, 2.30 PM, Board Room, Central Block</a:t>
            </a:r>
            <a:endParaRPr sz="13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" name="Google Shape;48;p5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6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7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7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8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8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9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9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9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0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0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0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1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1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11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/>
          <p:nvPr/>
        </p:nvSpPr>
        <p:spPr>
          <a:xfrm>
            <a:off x="6945800" y="186070"/>
            <a:ext cx="220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>
            <a:spLocks noGrp="1"/>
          </p:cNvSpPr>
          <p:nvPr>
            <p:ph type="ctrTitle"/>
          </p:nvPr>
        </p:nvSpPr>
        <p:spPr>
          <a:xfrm>
            <a:off x="311700" y="1415098"/>
            <a:ext cx="8520600" cy="13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9" name="Google Shape;119;p14"/>
          <p:cNvSpPr/>
          <p:nvPr/>
        </p:nvSpPr>
        <p:spPr>
          <a:xfrm flipH="1">
            <a:off x="18" y="50475"/>
            <a:ext cx="9143982" cy="106520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/>
          <p:nvPr/>
        </p:nvSpPr>
        <p:spPr>
          <a:xfrm flipH="1">
            <a:off x="18" y="0"/>
            <a:ext cx="9143982" cy="106520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-11025" y="4439925"/>
            <a:ext cx="9155100" cy="7035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25" y="4439925"/>
            <a:ext cx="3572100" cy="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sz="12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University is a nurturing ground for an individual’s holistic development to make effective contribution to the society</a:t>
            </a:r>
            <a:b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 a dynamic environment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3709075" y="4439925"/>
            <a:ext cx="20307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sz="12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6067875" y="4439925"/>
            <a:ext cx="2984400" cy="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Values</a:t>
            </a:r>
            <a:endParaRPr sz="12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|  Social Responsibility | Pursuit of Excellence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5" name="Google Shape;12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3326" y="231279"/>
            <a:ext cx="2073505" cy="70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15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5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17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7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18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9" name="Google Shape;169;p19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7" name="Google Shape;177;p20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8" name="Google Shape;188;p21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1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Google Shape;196;p22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1" name="Google Shape;20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5" name="Google Shape;205;p23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0" name="Google Shape;210;p24"/>
          <p:cNvSpPr/>
          <p:nvPr/>
        </p:nvSpPr>
        <p:spPr>
          <a:xfrm>
            <a:off x="-11025" y="4760831"/>
            <a:ext cx="9155100" cy="382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3343200" y="4823355"/>
            <a:ext cx="2457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2" name="Google Shape;212;p24"/>
          <p:cNvSpPr/>
          <p:nvPr/>
        </p:nvSpPr>
        <p:spPr>
          <a:xfrm rot="10800000">
            <a:off x="6945800" y="131"/>
            <a:ext cx="2207100" cy="461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4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7050800" y="222019"/>
            <a:ext cx="1997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093925"/>
            <a:ext cx="8520600" cy="3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4.15800" TargetMode="External"/><Relationship Id="rId2" Type="http://schemas.openxmlformats.org/officeDocument/2006/relationships/hyperlink" Target="https://arxiv.org/abs/2412.2013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apers.ssrn.com/sol3/papers.cfm?abstract_id=5053905" TargetMode="External"/><Relationship Id="rId4" Type="http://schemas.openxmlformats.org/officeDocument/2006/relationships/hyperlink" Target="https://papers.ssrn.com/sol3/papers.cfm?abstract_id=4850039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>
            <a:spLocks noGrp="1"/>
          </p:cNvSpPr>
          <p:nvPr>
            <p:ph type="ctrTitle"/>
          </p:nvPr>
        </p:nvSpPr>
        <p:spPr>
          <a:xfrm>
            <a:off x="311700" y="1127675"/>
            <a:ext cx="8520600" cy="117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FINMENTOR AI - MULTIAGENT FINANCIAL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ADVISORY PLATFORM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1"/>
          </p:nvPr>
        </p:nvSpPr>
        <p:spPr>
          <a:xfrm>
            <a:off x="6479381" y="2944734"/>
            <a:ext cx="235291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Roshan Varghese, 2448046</a:t>
            </a: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Varun Dsouza, 2448059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EF511-4E82-7294-AB5E-1D04A32EDFC0}"/>
              </a:ext>
            </a:extLst>
          </p:cNvPr>
          <p:cNvSpPr txBox="1"/>
          <p:nvPr/>
        </p:nvSpPr>
        <p:spPr>
          <a:xfrm>
            <a:off x="311700" y="2944735"/>
            <a:ext cx="32057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Apash Roy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Data Science &amp;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3FA87-8B81-C0DA-6007-A277ED6AA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F992-B5B3-80AE-E662-3F4D1234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Multiagent Financial Advisory Platform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6544F-5A8B-5E3F-B2C1-CF62E5A19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080" y="1124125"/>
            <a:ext cx="7886701" cy="3389700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modern times there are different asset classes to appreciate capital of an individual. Capital market is one such proven way.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NIFTY-50 which is the benchmark index of top 50 companies in India has generated a return of 10% CAGR. Where as many small cap companies have generated a hefty return of 15% to 18% in the same time.</a:t>
            </a: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FinMentor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MVP is a standalone web application designed to provide basic financial education and advisory services to Indian retain investors.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is designed to build sophisticated portfolio based on an investors risk perception.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building portfolio, the application is capable of educating new investors and giving summary of annual reports.</a:t>
            </a:r>
          </a:p>
        </p:txBody>
      </p:sp>
    </p:spTree>
    <p:extLst>
      <p:ext uri="{BB962C8B-B14F-4D97-AF65-F5344CB8AC3E}">
        <p14:creationId xmlns:p14="http://schemas.microsoft.com/office/powerpoint/2010/main" val="1109051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0949-5BD7-567C-5E28-A71197CEC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50" y="473466"/>
            <a:ext cx="8363100" cy="507300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A96E9-9CAA-200C-999F-47A8F0B49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750" y="980766"/>
            <a:ext cx="8363100" cy="3389700"/>
          </a:xfrm>
        </p:spPr>
        <p:txBody>
          <a:bodyPr/>
          <a:lstStyle/>
          <a:p>
            <a:pPr marL="889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FINANCIAL LITERACY GAP IN INDIA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27% of Indian adults are financially literate (NCFE Survey 2023)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investors lack personalized guidance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financial advisors are expensive (₹5000-10000/consultation)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investment apps don't educate users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overload - 5500+ stocks on BSE, where to start?</a:t>
            </a:r>
          </a:p>
          <a:p>
            <a:pPr marL="889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Impact: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investment decisions due to lack of knowledge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wealth creation opportunities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investing (panic selling, FOMO buying)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understanding of risk-return tradeoffs</a:t>
            </a:r>
          </a:p>
          <a:p>
            <a:pPr marL="889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 Young professionals (20-45) entering capital markets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317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0831E-AE78-6F45-A96A-39916986E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CFC6E-FEB3-C941-88C8-7CC9AC221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50" y="463952"/>
            <a:ext cx="8363100" cy="5073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Existing Solutions Fall Short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05D10-7CDF-C1F9-2A56-5D3AB5925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116" y="971252"/>
            <a:ext cx="3738372" cy="3200995"/>
          </a:xfrm>
        </p:spPr>
        <p:txBody>
          <a:bodyPr/>
          <a:lstStyle/>
          <a:p>
            <a:pPr marL="889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Robo-Advisors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Zerodha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Coin,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portfolio suggestions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educational component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One-size-fits-all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conversational interface</a:t>
            </a:r>
          </a:p>
          <a:p>
            <a:pPr marL="889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Chatbots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MoneyBot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Fina):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basic questions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FAQs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portfolio building capability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context awareness</a:t>
            </a:r>
          </a:p>
          <a:p>
            <a:pPr marL="889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148220C-A9D0-7C2B-F7F8-E226D6AA9E2D}"/>
              </a:ext>
            </a:extLst>
          </p:cNvPr>
          <p:cNvSpPr txBox="1">
            <a:spLocks/>
          </p:cNvSpPr>
          <p:nvPr/>
        </p:nvSpPr>
        <p:spPr>
          <a:xfrm>
            <a:off x="4285488" y="971252"/>
            <a:ext cx="4120896" cy="320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chivo Narrow"/>
              <a:buChar char="○"/>
              <a:defRPr sz="20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88900" indent="0">
              <a:buFont typeface="Archivo Narrow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Financial Advisors: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advice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(₹5000+/session)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scalable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available 24/7</a:t>
            </a:r>
          </a:p>
          <a:p>
            <a:pPr marL="88900" indent="0">
              <a:buFont typeface="Archivo Narrow"/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Font typeface="Archivo Narrow"/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31C8A-8144-31E8-1DC2-63616086C30D}"/>
              </a:ext>
            </a:extLst>
          </p:cNvPr>
          <p:cNvSpPr txBox="1"/>
          <p:nvPr/>
        </p:nvSpPr>
        <p:spPr>
          <a:xfrm>
            <a:off x="929640" y="3803142"/>
            <a:ext cx="7284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GAP: No solution combines education + advisory + personalization + 24/7 availability + affordable cost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001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95BDA-5543-F1B6-8E1D-E6B283A3D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7832-D91B-747F-EEF4-E373B4D85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50" y="487754"/>
            <a:ext cx="8363100" cy="5073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D5BFD-8A35-64C1-D1AA-6885A7D9F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320" y="1080778"/>
            <a:ext cx="7831360" cy="3200995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multi-agent financial advisory: Creates a system with specialized AI agents that collaborate to provide comprehensive financial advice. Developed smart orchestration with dependency aware execution.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aware conversational memory: To build a system that remembers and learns from past conversations. Implement agentic RAG with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PGVector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semantic search. Intent classification with 6 query types.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market integration: This provides accurate an up-to-date market data and analysis. Yahoo finance integration for live stock prices. Technical indicator calculations such as RSI, MACD, Moving average.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financial platform: Make financial literacy accessible to everyone. Angel one scraped data that contains more than 500 terms.</a:t>
            </a:r>
          </a:p>
        </p:txBody>
      </p:sp>
    </p:spTree>
    <p:extLst>
      <p:ext uri="{BB962C8B-B14F-4D97-AF65-F5344CB8AC3E}">
        <p14:creationId xmlns:p14="http://schemas.microsoft.com/office/powerpoint/2010/main" val="12822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CF135-4A07-7A26-C59E-434B82332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5ED1-DAD2-C523-3AF7-E1F0C4B1D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50" y="378526"/>
            <a:ext cx="8363100" cy="5073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Multi-Agent Systems in Finance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48CB0-3898-5BC2-18D3-CE3D6606A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457" y="906661"/>
            <a:ext cx="4228930" cy="3200995"/>
          </a:xfrm>
        </p:spPr>
        <p:txBody>
          <a:bodyPr/>
          <a:lstStyle/>
          <a:p>
            <a:pPr marL="8890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Multi-Agent Trading Systems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Reference: Xiao et al. (2024) - 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TradingAgents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Multi-agents 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LLM financial trading framework"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agents outperform single-agent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collaboration improves decision accuracy by 23%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LLM-based agents can process unstructured financial data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https://arxiv.org/abs/2412.20138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RAG for Financial QA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Reference: Choi et al. (2025) - 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Financial dataset for 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question answering and evaluating RAG"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improves factual accuracy in financial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Retrieval-based methods reduce hallucinations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knowledge bases essential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https://arxiv.org/abs/2504.15800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01DA403-AF1D-DCE1-2C75-248166511CC3}"/>
              </a:ext>
            </a:extLst>
          </p:cNvPr>
          <p:cNvSpPr txBox="1">
            <a:spLocks/>
          </p:cNvSpPr>
          <p:nvPr/>
        </p:nvSpPr>
        <p:spPr>
          <a:xfrm>
            <a:off x="4456387" y="885826"/>
            <a:ext cx="4460156" cy="320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chivo Narrow"/>
              <a:buChar char="○"/>
              <a:defRPr sz="20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8890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LLM-Based Portfolio Recommendations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Reference: Lopez-Lira, A., Scheer, M., &amp;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Schwenkler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(2024) - "Using Large Language Models for Financial Advice"</a:t>
            </a:r>
          </a:p>
          <a:p>
            <a:pPr marL="889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Key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can generate implementable portfolio recommendations with specific securities and weights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models generate portfolios more sensitive to investor characteristics than fine-tuned models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https://papers.ssrn.com/sol3/papers.cfm?abstract_id=4850039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GenAI and Retail Investor Behavior</a:t>
            </a:r>
          </a:p>
          <a:p>
            <a:pPr marL="8890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Reference: Cao, S., Jiang, W., &amp; Wang, J. (2024) - "Generative AI and Investor Processing of Financial Information"</a:t>
            </a:r>
          </a:p>
          <a:p>
            <a:pPr marL="8890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Nearly 50% of retail investors already use GenAI for financial information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GenAI enhances ability to process complex financial information quickly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sophisticated investors leverage GenAI for complex tasks more effectively</a:t>
            </a:r>
          </a:p>
          <a:p>
            <a:pPr marL="8890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https://papers.ssrn.com/sol3/papers.cfm?abstract_id=5053905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867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13B1-CCAD-9BF5-A859-D37BD7F0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F1EAB-51AB-35B9-BE0E-5D9B596F6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945" y="1307482"/>
            <a:ext cx="3550850" cy="272854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Layer: React web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layer: Fast API with python.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layer: Sources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Yahoo Finance - Free, real-time Indian market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Angel One - 538 financial terms scraped for education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Vantage - Rate limits too restrictive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NSE Direct API - Requires commercial license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44EFE-D6BE-12D3-61CF-E160BE059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356" y="616825"/>
            <a:ext cx="4666558" cy="401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733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C9BD8-5D12-D424-3A5A-E5BA61F2B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39F7-8119-88BF-FFC2-249421B8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50" y="266297"/>
            <a:ext cx="8363100" cy="5073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Processing (EDA)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99FB0-0AD5-7736-AD73-52220D2EDDD6}"/>
              </a:ext>
            </a:extLst>
          </p:cNvPr>
          <p:cNvSpPr txBox="1"/>
          <p:nvPr/>
        </p:nvSpPr>
        <p:spPr>
          <a:xfrm>
            <a:off x="390450" y="994981"/>
            <a:ext cx="418155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 Angel One Financial Glossary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Web scraping with Python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Selinium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Statistics: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Terms: 538 financial terms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 term, definition,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source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Quality: 100% complete (no missing values)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Duplicates: Removed during preprocessing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Topics Covered (Word Cloud Analysis):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Frequent: FINANCE, TRADING, TAXES, CREDIT, INSURANCE, STOCK, OPTION, FUTURE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forms our Educational Agent's knowledge base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847E7-E546-6771-1BF0-B14F2A93C115}"/>
              </a:ext>
            </a:extLst>
          </p:cNvPr>
          <p:cNvSpPr txBox="1"/>
          <p:nvPr/>
        </p:nvSpPr>
        <p:spPr>
          <a:xfrm>
            <a:off x="4572000" y="994981"/>
            <a:ext cx="437662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Analysis: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Term Length: 15 characters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Definition: 784 characters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Consistency: 95% definitions 700-900 chars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Banking &amp; Finance: 28%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Trading Instruments: 24%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Tax &amp; Legal: 18%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Investment Products: 30%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745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E359-0131-0C7B-E910-28F4CDAB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3536400" cy="755700"/>
          </a:xfrm>
        </p:spPr>
        <p:txBody>
          <a:bodyPr/>
          <a:lstStyle/>
          <a:p>
            <a:r>
              <a:rPr lang="en-IN" dirty="0"/>
              <a:t>RAG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00CE0-D5A7-4A06-F6D3-8F44D5EDB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3704040" cy="3179400"/>
          </a:xfrm>
        </p:spPr>
        <p:txBody>
          <a:bodyPr/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 Classifier</a:t>
            </a:r>
          </a:p>
          <a:p>
            <a:pPr lvl="1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references: Past conversation recall</a:t>
            </a:r>
          </a:p>
          <a:p>
            <a:pPr lvl="1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Query: Learning financial concepts.</a:t>
            </a:r>
          </a:p>
          <a:p>
            <a:pPr lvl="1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analyser: Real time stock data.</a:t>
            </a:r>
          </a:p>
          <a:p>
            <a:pPr lvl="1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advice: Investment recommendation.</a:t>
            </a:r>
          </a:p>
          <a:p>
            <a:pPr lvl="1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assessment: Risk evaluation.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planner</a:t>
            </a:r>
          </a:p>
          <a:p>
            <a:pPr lvl="1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retrieval strategy based on intent.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retriever</a:t>
            </a:r>
          </a:p>
          <a:p>
            <a:pPr lvl="1"/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PGVector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Semantic similarity.</a:t>
            </a:r>
          </a:p>
          <a:p>
            <a:pPr lvl="1"/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PostgreSLQ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Education content from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angelone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API such as Yahoo finance.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2F8EE7-0D83-985B-93AA-D8820D4CB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042" y="555600"/>
            <a:ext cx="2119996" cy="413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94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F88A-70F0-1CD5-5033-98CCEF6F1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Design 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242B2-5BF4-E056-6B64-A1A7306D7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Market technical agent: Analyses price charts, identifies trends and calculates technical indicators.</a:t>
            </a:r>
          </a:p>
          <a:p>
            <a:pPr marL="889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Market sentimental agent: Gauges market psychology and investor sentiment from news and social media.</a:t>
            </a:r>
          </a:p>
          <a:p>
            <a:pPr marL="889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Portfolio optimization agent: Optimizes portfolio allocation using Markowitz optimization and risk-return trade-offs.</a:t>
            </a:r>
          </a:p>
          <a:p>
            <a:pPr marL="889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Dividend analysis agent: Evaluated dividend-paying stocks for suitable income generation.</a:t>
            </a:r>
          </a:p>
          <a:p>
            <a:pPr marL="889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Risk assessment agent: Quantifies investment risk and identifies psychological biases.</a:t>
            </a:r>
          </a:p>
          <a:p>
            <a:pPr marL="889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Tax implication agent: Analyses tax consequences of trades and suggests optimization strategies.</a:t>
            </a:r>
          </a:p>
          <a:p>
            <a:pPr marL="889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Earning analysis agent : Analyse quarter earnings reports and forward guidance</a:t>
            </a:r>
          </a:p>
          <a:p>
            <a:pPr marL="889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Economic Indicator Analysis: To interpret economic indicators such as GDP, CPI and unemployment.</a:t>
            </a:r>
          </a:p>
          <a:p>
            <a:pPr marL="889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Concept explanation agent:: Explains complex financial concepts in simple accessible language.</a:t>
            </a:r>
          </a:p>
          <a:p>
            <a:pPr marL="889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Personalized learning agent: Created customized learning paths based on user progress and goals.</a:t>
            </a:r>
          </a:p>
          <a:p>
            <a:pPr marL="889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Behavioural detection agent: Identifies emotional biases affecting investment decisions.</a:t>
            </a:r>
          </a:p>
          <a:p>
            <a:pPr marL="889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Psychological profiling agent: Profiles investor personality type and true risk tolerance.</a:t>
            </a:r>
          </a:p>
          <a:p>
            <a:pPr marL="889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Financial analysis agent: Handels general financial questions and coordinates with specialized agents.</a:t>
            </a:r>
          </a:p>
        </p:txBody>
      </p:sp>
    </p:spTree>
    <p:extLst>
      <p:ext uri="{BB962C8B-B14F-4D97-AF65-F5344CB8AC3E}">
        <p14:creationId xmlns:p14="http://schemas.microsoft.com/office/powerpoint/2010/main" val="1219269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EFFE-EE17-CAED-6B66-3FE5F2E07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Design High Level Overview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CC3B2-7174-2854-E9BE-4F488C800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476" y="1211114"/>
            <a:ext cx="6301048" cy="341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86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38A43-58C9-81FE-1A1E-9FA305731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Multiagent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D7B42-ECEC-CD15-6352-299DD5D67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3944416" cy="31794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System Orchestrator Key Responsibilities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assessment: Classifies as simple, moderate, complex, critical.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selection: Maps query intent to required agents.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resolution: Identifies which agents depend on others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limiting: Gemini 10 request/minute.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execution: Independent agents run simultaneously.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synthesis: Combines output from all agents.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1E34AF-CE91-91A2-DB08-D782F785B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184" y="1311300"/>
            <a:ext cx="4654116" cy="32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19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A4105-73CE-728C-0B14-F9F2364A0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3B25-2DFA-C855-F138-2AF7573FF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50" y="440344"/>
            <a:ext cx="8363100" cy="5073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A532C7-361E-40E3-0684-7DA5CAB60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476320"/>
              </p:ext>
            </p:extLst>
          </p:nvPr>
        </p:nvGraphicFramePr>
        <p:xfrm>
          <a:off x="4486656" y="487681"/>
          <a:ext cx="4657344" cy="4215475"/>
        </p:xfrm>
        <a:graphic>
          <a:graphicData uri="http://schemas.openxmlformats.org/drawingml/2006/table">
            <a:tbl>
              <a:tblPr/>
              <a:tblGrid>
                <a:gridCol w="1819935">
                  <a:extLst>
                    <a:ext uri="{9D8B030D-6E8A-4147-A177-3AD203B41FA5}">
                      <a16:colId xmlns:a16="http://schemas.microsoft.com/office/drawing/2014/main" val="2122708282"/>
                    </a:ext>
                  </a:extLst>
                </a:gridCol>
                <a:gridCol w="2837409">
                  <a:extLst>
                    <a:ext uri="{9D8B030D-6E8A-4147-A177-3AD203B41FA5}">
                      <a16:colId xmlns:a16="http://schemas.microsoft.com/office/drawing/2014/main" val="1078813766"/>
                    </a:ext>
                  </a:extLst>
                </a:gridCol>
              </a:tblGrid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Component/Framework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or Feature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74027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(Web)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+ Vite + Tailwind CSS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210727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Framework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(Python 3.9+)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940201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 14+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477629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ORM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SQLAlchemy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601043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JWT (</a:t>
                      </a:r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PyJWT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library)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453151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Framework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Gemini API (REST calls)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035910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 Framework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LangChain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311072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Data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yfinance Python library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483795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Heroku / Railway / Render (free tier)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24910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+ GitHub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943842"/>
                  </a:ext>
                </a:extLst>
              </a:tr>
              <a:tr h="4565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DSPy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 reasoning AI framework (introduced 2023)</a:t>
                      </a:r>
                    </a:p>
                  </a:txBody>
                  <a:tcPr marL="50001" marR="50001" marT="50001" marB="500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5429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8996314-6C20-114D-797F-F84A39D72D04}"/>
              </a:ext>
            </a:extLst>
          </p:cNvPr>
          <p:cNvSpPr txBox="1"/>
          <p:nvPr/>
        </p:nvSpPr>
        <p:spPr>
          <a:xfrm>
            <a:off x="390450" y="994981"/>
            <a:ext cx="393771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Framework: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(Python 3.10+)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 Async support, fast, auto-generates API docs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PostgreSQL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Components: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(gemini-1.5-flash) - Free tier, Query classification, response generation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Agent orchestration framework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DSPY – Structured Reasoning AI Framework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hashing with salt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Authentication: JWT tokens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variables for API keys</a:t>
            </a:r>
          </a:p>
        </p:txBody>
      </p:sp>
    </p:spTree>
    <p:extLst>
      <p:ext uri="{BB962C8B-B14F-4D97-AF65-F5344CB8AC3E}">
        <p14:creationId xmlns:p14="http://schemas.microsoft.com/office/powerpoint/2010/main" val="730285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36485-38BF-3144-6742-714E0F12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1A6AD-47FA-2D27-0A60-91F36A0F9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Multi-model agents: Full integration of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analysis for a seamless, human-like interaction.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Tax-Loss Harvesting Agent: A specialized agent to monitor portfolios and suggest tax-efficient trades.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Application: Native React Native app for on-the-go portfolio management.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Integration: For verifying immutable audit trails of financial advice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Portfolio Optimization: Implementing Black-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Litterman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Mean-Variance Optimization models for institutional-grade portfolio construction.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718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D003-55C9-D3F0-F34D-DC885003C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78145"/>
            <a:ext cx="8520600" cy="57270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9327133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3779</TotalTime>
  <Words>1502</Words>
  <Application>Microsoft Office PowerPoint</Application>
  <PresentationFormat>On-screen Show (16:9)</PresentationFormat>
  <Paragraphs>197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Times New Roman</vt:lpstr>
      <vt:lpstr>Bookman Old Style</vt:lpstr>
      <vt:lpstr>Arial</vt:lpstr>
      <vt:lpstr>Georgia</vt:lpstr>
      <vt:lpstr>Archivo Narrow</vt:lpstr>
      <vt:lpstr>Simple Light</vt:lpstr>
      <vt:lpstr>Simple Light</vt:lpstr>
      <vt:lpstr>FINMENTOR AI - MULTIAGENT FINANCIAL ADVISORY PLATFORM</vt:lpstr>
      <vt:lpstr>Multiagent Financial Advisory Platform</vt:lpstr>
      <vt:lpstr>Problem Statement </vt:lpstr>
      <vt:lpstr>Why Existing Solutions Fall Short</vt:lpstr>
      <vt:lpstr>Project Objectives</vt:lpstr>
      <vt:lpstr>Literature Review - Multi-Agent Systems in Finance</vt:lpstr>
      <vt:lpstr>System Architecture</vt:lpstr>
      <vt:lpstr>Data Collection &amp; Processing (EDA)</vt:lpstr>
      <vt:lpstr>RAG architecture</vt:lpstr>
      <vt:lpstr>Multi-Agent Design </vt:lpstr>
      <vt:lpstr>Multi-Agent Design High Level Overview</vt:lpstr>
      <vt:lpstr>Multiagent Module</vt:lpstr>
      <vt:lpstr>Technology Stack</vt:lpstr>
      <vt:lpstr>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Varun</dc:creator>
  <cp:lastModifiedBy>Varun Dsouza</cp:lastModifiedBy>
  <cp:revision>32</cp:revision>
  <dcterms:modified xsi:type="dcterms:W3CDTF">2025-12-06T04:38:51Z</dcterms:modified>
</cp:coreProperties>
</file>